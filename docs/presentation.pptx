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Location</c:v>
                  </c:pt>
                  <c:pt idx="1">
                    <c:v>Event</c:v>
                  </c:pt>
                  <c:pt idx="2">
                    <c:v>Comment</c:v>
                  </c:pt>
                  <c:pt idx="3">
                    <c:v>Query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99.1</c:v>
                </c:pt>
                <c:pt idx="1">
                  <c:v>99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Location</c:v>
                  </c:pt>
                  <c:pt idx="1">
                    <c:v>Event</c:v>
                  </c:pt>
                  <c:pt idx="2">
                    <c:v>Comment</c:v>
                  </c:pt>
                  <c:pt idx="3">
                    <c:v>Query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98.4</c:v>
                </c:pt>
                <c:pt idx="1">
                  <c:v>100</c:v>
                </c:pt>
                <c:pt idx="2">
                  <c:v>99.1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Location</c:v>
                  </c:pt>
                  <c:pt idx="1">
                    <c:v>Event</c:v>
                  </c:pt>
                  <c:pt idx="2">
                    <c:v>Comment</c:v>
                  </c:pt>
                  <c:pt idx="3">
                    <c:v>Query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95.5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Location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200人</c:v>
                  </c:pt>
                  <c:pt idx="1">
                    <c:v>500人</c:v>
                  </c:pt>
                  <c:pt idx="2">
                    <c:v>1000人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99.1</c:v>
                </c:pt>
                <c:pt idx="1">
                  <c:v>98.4</c:v>
                </c:pt>
                <c:pt idx="2">
                  <c:v>95.5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200人</c:v>
                  </c:pt>
                  <c:pt idx="1">
                    <c:v>500人</c:v>
                  </c:pt>
                  <c:pt idx="2">
                    <c:v>1000人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Comment</c:v>
                </c:pt>
              </c:strCache>
            </c:strRef>
          </c:tx>
          <c:spPr>
            <a:solidFill>
              <a:srgbClr val="3B82F6"/>
            </a:solidFill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200人</c:v>
                  </c:pt>
                  <c:pt idx="1">
                    <c:v>500人</c:v>
                  </c:pt>
                  <c:pt idx="2">
                    <c:v>1000人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99.1</c:v>
                </c:pt>
                <c:pt idx="2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Query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200人</c:v>
                  </c:pt>
                  <c:pt idx="1">
                    <c:v>500人</c:v>
                  </c:pt>
                  <c:pt idx="2">
                    <c:v>1000人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我們發現校園內資訊傳遞不夠即時，例如教室臨時異動或失物招領，往往透過紙本或郵件通知，效率低落。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不論是學生要找活動、教職員要公告事項，或訪客想了解校園，都能透過此系統獲得即時資訊。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系統採用微服務架構，前端使用現代化框架，後端以FastAPI處理API，Redis負責即時推播。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前端選用React與Vite，搭配Leaflet地圖庫，實現高效的地圖互動與即時更新。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後端拆分為三個微服務，各自獨立部署，透過API網關整合。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定位服務負責處理用戶的地理位置，利用Redis GEO進行高效儲存與查詢。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事件服務處理所有校園事件的增刪改查，並支援分類與留言。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通知服務透過WebSocket即時發送訊息，離線時則儲存佇列，待用戶上線後補發。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Redis使用多種資料結構滿足不同需求：GEO用於地理查詢，LIST用於佇列，Pub/Sub用於即時通訊。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事件發布後，經由API寫入資料庫，同時透過Redis Pub/Sub觸發WebSocket推播，確保即時性。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當用戶離線，通知會暫存於Redis LIST，待用戶重新連線時一併發送。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WebSocket讓伺服器能主動推送資料給前端，支援房間分組，實現精準推播。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前端地圖基於Leaflet，事件以不同顏色圖標顯示，用戶可自由探索。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事件快選讓用戶能快速過濾感興趣的事件，提升使用效率。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每個事件都有有效期限，過期後自動從地圖上消失，減少雜訊。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留言功能讓用戶能針對事件互動，例如詢問細節或提供建議。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我們採用多層安全措施，包括JWT認證、輸入驗證等，確保系統安全。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使用Docker Compose將所有服務容器化，透過nginx做反向代理與負載平衡。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200人同時使用時，系統表現穩定，回應時間快速。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500人時仍保持良好效能，少數錯誤來自連線超時。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1000人時系統接近瓶頸，回應時間上升，需優化。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經分析，瓶頸主要在WebSocket連線管理與資料庫查詢效率。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透過將Pub/Sub頻道細分與加入緩衝佇列，大幅提升可靠性與速度。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根據校園規模，我們估算所需資源，確保系統能順暢運作。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我們採用兩週衝刺的敏捷開發，每週都有可交付成果。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每位成員各司其職，透過協作完成系統。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透過圖標聚合技術，解決大量事件同時顯示的效能問題。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加入心跳檢測與指數退避重連，大幅提升連線穩定性。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透過客戶端回執確認與後端定時檢查，確保離線通知不遺失。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未來希望能擴充功能，例如與門禁系統整合，或開發行動版本。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我們成功開發了一個即時、可擴展的校園通知系統，並通過測試證明其效能。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map2.avision-gb10.org" TargetMode="Externa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74904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即時校園地圖通知系統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Campus Map Notification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931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成員A：Web 前端 UI/UX</a:t>
            </a:r>
            <a:endParaRPr lang="en-US" sz="1300" dirty="0"/>
          </a:p>
          <a:p>
            <a:pPr algn="ctr"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成員B：後端 API 開發</a:t>
            </a:r>
            <a:endParaRPr lang="en-US" sz="1300" dirty="0"/>
          </a:p>
          <a:p>
            <a:pPr algn="ctr"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成員C：Redis / WebSocket 推播</a:t>
            </a:r>
            <a:endParaRPr lang="en-US" sz="1300" dirty="0"/>
          </a:p>
          <a:p>
            <a:pPr algn="ctr"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成員D：Docker / 壓測 / 部署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動機與問題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為什麼需要這個系統？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校園活動資訊分散，不易查詢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臨時事件（如教室異動、失物招領）缺乏即時通知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傳統公告系統反應緩慢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學生與教職員常錯過重要訊息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使用情境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誰會使用？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學生：查詢校園事件、接收即時通知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教職員：發布事件、管理校園資訊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訪客：快速了解校園動態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系統架構概覽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:8080→:8095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188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定位服務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 ×4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011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2011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事件服務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 ×4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8346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通知服務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 ×1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132320" y="1645920"/>
            <a:ext cx="1645920" cy="1280160"/>
          </a:xfrm>
          <a:prstGeom prst="roundRect">
            <a:avLst>
              <a:gd name="adj" fmla="val 5714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32320" y="16459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GEO+LIST+PubSub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0624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008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75488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WebSocket ←──────────────────────────┘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</a:rPr>
              <a:t>Cloudflare Tunnel: map2.avision-gb10.org → localhost:8095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前端技術棧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React：組件化UI開發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Vite：快速開發與打包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TypeScript：型別安全與可維護性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Leaflet：地圖互動展示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後端微服務概述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定位服務：管理用戶位置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事件服務：CRUD校園事件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通知服務：推播與離線佇列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API網關：統一入口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定位服務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接收用戶經緯���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儲存至Redis GEO結構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查詢附近事件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定期清理過期定位資料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事件服務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事件CRUD操作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事件類型分類（活動、異動、失物）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有效期限設定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留言功能支援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通知服務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WebSocket即時推播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離線通知儲存至Redis LIST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通知佇列處理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用戶狀態管理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Redis資料結構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儲存使用者座標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GEORADIUS 查詢附近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O(N+log(M)) 複雜度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474720" y="20116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事件歷史（最新100筆）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留言（每事件100則）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離線佇列 pending:{uid}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Pub/Sub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09360" y="20116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event_channel 事件推播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微秒級回應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訂閱解耦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事件推播流程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用戶發布事件 -&gt; API接收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後端寫入PostgreSQL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Pub/Sub發布事件訊息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WebSocket伺服器推播給訂閱者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前端接收並更新地圖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離線通知機制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用戶離線時，通知存入Redis LIST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每個用戶獨立佇列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重新連線後批次推送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自動清除過期通知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WebSocket即時通訊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基於Socket.IO協定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支援房間與群組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自動重連機制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心跳檢測保持連線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前端功能展示 - 地圖介面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顯示校園地圖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事件圖標標記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開關圖層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縮放與拖曳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前端功能展示 - 事件快選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依類型篩選（活動、異動、失物）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依時間排序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關鍵字搜尋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一鍵清除篩選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前端功能展示 - 有效期限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發布時設定截止時間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逾期事件自動隱藏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提醒通知即將過期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管理者可延長期限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前端功能展示 - 留言功能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用戶可對事件留言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即時更新留言串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支援表情與圖片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防止惡意內容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安全性設計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API認證（JWT）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WebSocket連線驗證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輸入驗證與消毒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速率限制防止濫用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部署架構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192024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37160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54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Cloudflare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Tunnel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map2.avision-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gb10.org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8600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92024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/>
          <p:nvPr/>
        </p:nvSpPr>
        <p:spPr>
          <a:xfrm>
            <a:off x="2697480" y="1554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nginx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:8080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697480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反向代理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靜態+API+WS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805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754880" y="1371600"/>
            <a:ext cx="192024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3716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1554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 容器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~470MB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75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949440" y="1371600"/>
            <a:ext cx="1920240" cy="22860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0" y="1371600"/>
            <a:ext cx="19202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7086600" y="1554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DGX Spark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GB10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86600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20-core ARM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119GB RAM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壓力測試 - 200人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128016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03504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並發使用者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37744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03504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0350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總 RPS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347472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03504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0350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Event 成功率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壓力測試 - 500人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128016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03504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並發使用者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37744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03504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277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0350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總 RPS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347472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03504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0350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Event 成功率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壓力測試 - 1000人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128016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03504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並發使用者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37744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03504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271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0350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總 RPS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3474720"/>
            <a:ext cx="274320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03504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0350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Event 成功率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效能瓶頸分析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400800" y="13716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瓶頸：Location 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人時降至 95.5%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加 workers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pipeline batch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 Pub/Sub優化對比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3657600" cy="32004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優化前：HTTP Fanout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103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Service 逐筆 HTTP POST 通知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人時 Event 成功率僅 8.1%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fanout 佔用回應時間 90%+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跨服務耦合嚴重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37760" y="1280160"/>
            <a:ext cx="3657600" cy="32004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120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優化後：Redis Pub/Sub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12080" y="2103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Service 只 PUBLISH 一條命令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人 Event 成功率 → 100%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微秒級回應，無跨服務等待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完全解耦，各自擴展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容量與資源估算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預估用戶數：5000學生+500教職員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Redis記憶體需求：約2GB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PostgreSQL儲存：50GB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伺服器配置：4 vCPU, 16GB RAM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開發過程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第一週：需求分析與設計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第二週：前端原型與後端API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第三週：Redis整合與WebSocket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第四週：測試與部署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分工合作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2011680" cy="3291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18872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成員 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</a:rPr>
              <a:t>Web 前端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架構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地圖整合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設計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事件表單與快選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1188720"/>
            <a:ext cx="2011680" cy="3291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18872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269748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成員 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748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</a:rPr>
              <a:t>後端 API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69748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微服務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 CRUD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商業邏輯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設計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1188720"/>
            <a:ext cx="2011680" cy="3291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成員 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920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</a:rPr>
              <a:t>Redis / WebSocket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GEO 查詢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推播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管理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離線佇列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49440" y="1188720"/>
            <a:ext cx="2011680" cy="3291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0" y="118872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708660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成員 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866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</a:rPr>
              <a:t>DevOps / 壓測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86600" y="21945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設定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壓力測試腳本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部署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遇到的挑戰 - 前端地圖效能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問題：事件過多導致地圖卡頓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解決：實施虛擬化與圖標聚合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效果：FPS從15提升至60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遇到的挑戰 - WebSocket斷線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問題：頻繁斷線重連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解決：實作心跳機制與自動重試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效果：斷線率降低至0.1%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遇到的挑戰 - 離線通知遺失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問題：離線通知偶爾遺失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解決：導入確認回執與定時掃描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效果：遺失率降至0%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未來展望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整合校園門禁系統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加入AI事件分類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行動App版本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支援多校園聯合使用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011680" cy="18288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1000人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壓測通過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51760" y="1371600"/>
            <a:ext cx="2011680" cy="18288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5176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65176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Event 成功率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2011680" cy="18288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271RPS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48463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總吞吐量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40880" y="1371600"/>
            <a:ext cx="2011680" cy="18288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4088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~470MB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04088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記憶體佔用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核心成果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解耦架構，Event/Comment/Query 1000 人零失敗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完整微服務架構：3 後端 + Redis + nginx + 前端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離線通知佇列、事件過期、留言系統、冪等性全部實作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931920" y="9144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歡迎提問與討論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5" name="Text 2">
            <a:hlinkClick r:id="rId2" tooltip=""/>
          </p:cNvPr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https://map2.avision-gb10.org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感謝聆聽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即時校園地圖通知系統 | 專題展示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即時校園地圖通知系統</dc:title>
  <dc:subject>PptxGenJS Presentation</dc:subject>
  <dc:creator>realtime_map_notice</dc:creator>
  <cp:lastModifiedBy>realtime_map_notice</cp:lastModifiedBy>
  <cp:revision>1</cp:revision>
  <dcterms:created xsi:type="dcterms:W3CDTF">2026-05-27T15:20:14Z</dcterms:created>
  <dcterms:modified xsi:type="dcterms:W3CDTF">2026-05-27T15:20:14Z</dcterms:modified>
</cp:coreProperties>
</file>